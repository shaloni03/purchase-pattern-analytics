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oni ." userId="12e239e922142ee3" providerId="LiveId" clId="{E11AC673-7B31-4B6E-8640-F127F016936D}"/>
    <pc:docChg chg="modSld">
      <pc:chgData name="shaloni ." userId="12e239e922142ee3" providerId="LiveId" clId="{E11AC673-7B31-4B6E-8640-F127F016936D}" dt="2026-10-24T12:07:48.986" v="14" actId="20577"/>
      <pc:docMkLst>
        <pc:docMk/>
      </pc:docMkLst>
      <pc:sldChg chg="modSp mod">
        <pc:chgData name="shaloni ." userId="12e239e922142ee3" providerId="LiveId" clId="{E11AC673-7B31-4B6E-8640-F127F016936D}" dt="2026-10-24T12:07:48.986" v="14" actId="20577"/>
        <pc:sldMkLst>
          <pc:docMk/>
          <pc:sldMk cId="0" sldId="256"/>
        </pc:sldMkLst>
        <pc:spChg chg="mod">
          <ac:chgData name="shaloni ." userId="12e239e922142ee3" providerId="LiveId" clId="{E11AC673-7B31-4B6E-8640-F127F016936D}" dt="2026-10-24T12:07:48.986" v="14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 removed</c:v>
                </c:pt>
              </c:strCache>
            </c:strRef>
          </c:tx>
          <c:spPr>
            <a:solidFill>
              <a:srgbClr val="2B1B3D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Blank names</c:v>
                </c:pt>
                <c:pt idx="1">
                  <c:v>Duplicates</c:v>
                </c:pt>
                <c:pt idx="2">
                  <c:v>Returns / invalid</c:v>
                </c:pt>
                <c:pt idx="3">
                  <c:v>Fee rows</c:v>
                </c:pt>
                <c:pt idx="4">
                  <c:v>Outliers</c:v>
                </c:pt>
                <c:pt idx="5">
                  <c:v>Rare products</c:v>
                </c:pt>
                <c:pt idx="6">
                  <c:v>Single-item bills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1455</c:v>
                </c:pt>
                <c:pt idx="1">
                  <c:v>5286</c:v>
                </c:pt>
                <c:pt idx="2">
                  <c:v>1053</c:v>
                </c:pt>
                <c:pt idx="3">
                  <c:v>2300</c:v>
                </c:pt>
                <c:pt idx="4">
                  <c:v>1017</c:v>
                </c:pt>
                <c:pt idx="5">
                  <c:v>14812</c:v>
                </c:pt>
                <c:pt idx="6">
                  <c:v>1394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DE2-4792-A192-1678400309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3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market basket analysis on a year of retail transactions to find products bought together and turn them into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messages: variants are collected, the cakestand is the cross-sell hub, and timing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Purchase Pattern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E8D9F0"/>
                </a:solidFill>
                <a:latin typeface="Calibri"/>
              </a:rPr>
              <a:t>What customers buy together, and what to do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C9B6D6"/>
                </a:solidFill>
                <a:latin typeface="Calibri"/>
              </a:rPr>
              <a:t>Market Basket Analysis with </a:t>
            </a:r>
            <a:r>
              <a:rPr sz="1400" b="0" dirty="0" err="1">
                <a:solidFill>
                  <a:srgbClr val="C9B6D6"/>
                </a:solidFill>
                <a:latin typeface="Calibri"/>
              </a:rPr>
              <a:t>Apriori</a:t>
            </a:r>
            <a:r>
              <a:rPr sz="1400" b="0" dirty="0">
                <a:solidFill>
                  <a:srgbClr val="C9B6D6"/>
                </a:solidFill>
                <a:latin typeface="Calibri"/>
              </a:rPr>
              <a:t>  |  CDACL-005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Customers buy in families, and the cake stand is the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E1F"/>
                </a:solidFill>
                <a:latin typeface="Cambria"/>
              </a:rPr>
              <a:t>17,750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bills analysed after cleaning (2,559 products)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E1F"/>
                </a:solidFill>
                <a:latin typeface="Cambria"/>
              </a:rPr>
              <a:t>926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association rules found at lift 1 or higher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A9D8F"/>
                </a:solidFill>
                <a:latin typeface="Cambria"/>
              </a:rPr>
              <a:t>12.1x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highest lift: Bakelike alarm clock colours bought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Product variants are collected: alarm-clock colours and cake-case designs show lift of 7 to 12.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22222"/>
                </a:solidFill>
                <a:latin typeface="Calibri"/>
              </a:rPr>
              <a:t>Party, baking and kitchen items all lead to the REGENCY CAKESTAND 3 TIER (lift 2.1 to 2.5).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222222"/>
                </a:solidFill>
                <a:latin typeface="Calibri"/>
              </a:rPr>
              <a:t>Revenue peaks in November; buying peaks at midday and mid-afternoon.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From raw transactions to rules in 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737360"/>
            <a:ext cx="2103120" cy="1097280"/>
          </a:xfrm>
          <a:prstGeom prst="homePlate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522,064 rows read from MySQL</a:t>
            </a:r>
          </a:p>
        </p:txBody>
      </p:sp>
      <p:sp>
        <p:nvSpPr>
          <p:cNvPr id="6" name="Chevron 5"/>
          <p:cNvSpPr/>
          <p:nvPr/>
        </p:nvSpPr>
        <p:spPr>
          <a:xfrm>
            <a:off x="2788920" y="1737360"/>
            <a:ext cx="2103120" cy="1097280"/>
          </a:xfrm>
          <a:prstGeom prst="chevron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30632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Statistics, charts, quality checks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1737360"/>
            <a:ext cx="2103120" cy="1097280"/>
          </a:xfrm>
          <a:prstGeom prst="chevron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0632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7 logged steps, 94.8% of rows kept</a:t>
            </a:r>
          </a:p>
        </p:txBody>
      </p:sp>
      <p:sp>
        <p:nvSpPr>
          <p:cNvPr id="10" name="Chevron 9"/>
          <p:cNvSpPr/>
          <p:nvPr/>
        </p:nvSpPr>
        <p:spPr>
          <a:xfrm>
            <a:off x="7269480" y="1737360"/>
            <a:ext cx="2103120" cy="1097280"/>
          </a:xfrm>
          <a:prstGeom prst="chevron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Basket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0632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17,750 bills × 2,559 products</a:t>
            </a:r>
          </a:p>
        </p:txBody>
      </p:sp>
      <p:sp>
        <p:nvSpPr>
          <p:cNvPr id="12" name="Chevron 11"/>
          <p:cNvSpPr/>
          <p:nvPr/>
        </p:nvSpPr>
        <p:spPr>
          <a:xfrm>
            <a:off x="9509760" y="1737360"/>
            <a:ext cx="2103120" cy="1097280"/>
          </a:xfrm>
          <a:prstGeom prst="chevron">
            <a:avLst/>
          </a:prstGeom>
          <a:solidFill>
            <a:srgbClr val="C8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Apriori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0632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Support ≥ 1.5%, itemsets up to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How to read a rule A → B:  support = how common,  confidence = how often B follows A,  lift = how much more often than chance (above 1 is positive).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Cleaning removed 5.2% of rows, mostly rare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B1B3D"/>
                </a:solidFill>
                <a:latin typeface="Cambria"/>
              </a:rPr>
              <a:t>522,064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6517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raw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5204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3749039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A9D8F"/>
                </a:solidFill>
                <a:latin typeface="Cambria"/>
              </a:rPr>
              <a:t>494,747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6177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clean rows (94.8%)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4406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Unit of analysis is the bill; 1 bill = 1 basket.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Demand builds from September and peaks in November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pic>
        <p:nvPicPr>
          <p:cNvPr id="4" name="Picture 3" descr="cell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0649"/>
            <a:ext cx="6949439" cy="3045260"/>
          </a:xfrm>
          <a:prstGeom prst="rect">
            <a:avLst/>
          </a:prstGeom>
        </p:spPr>
      </p:pic>
      <p:pic>
        <p:nvPicPr>
          <p:cNvPr id="5" name="Picture 4" descr="cell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64640"/>
            <a:ext cx="4023360" cy="1991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3931920"/>
            <a:ext cx="4023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Revenue peaks in Nov 2011 (about 1.47M); December is a partial month.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Buying peaks at 12:00 and 15:00, mostly between 10:00 and 16:00.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Raw data, including returns; hourly chart counts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A few best-sellers anchor the baskets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pic>
        <p:nvPicPr>
          <p:cNvPr id="4" name="Picture 3" descr="cell6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911"/>
            <a:ext cx="6766560" cy="44856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54480"/>
            <a:ext cx="3931920" cy="438912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783080"/>
            <a:ext cx="33832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T-light holder: in 12.2% of baskets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22222"/>
                </a:solidFill>
                <a:latin typeface="Calibri"/>
              </a:rPr>
              <a:t>Jumbo Bag Red Retrospot: 11.5%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22222"/>
                </a:solidFill>
                <a:latin typeface="Calibri"/>
              </a:rPr>
              <a:t>Regency Cakestand: 10.6%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22222"/>
                </a:solidFill>
                <a:latin typeface="Calibri"/>
              </a:rPr>
              <a:t>Average bill: 27.6 products after cleaning (median 13 before)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Variants of one design show the strongest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Pink Paisley Cake Cases → 60 Teatime Cake Cases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9.0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60 Teatime Cake Cases → 72 Retrospot Cake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Alarm Clock Chocolate → Alarm Clock Green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0.66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12.1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Alarm Clock Chocolate → Alarm Clock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890 frequent itemsets and 926 rules at support ≥ 1.5%. Customers who buy one colour or design often buy another: collections, not just complements.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5448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B1B3D"/>
                </a:solidFill>
                <a:latin typeface="Cambria"/>
              </a:rPr>
              <a:t>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frequent itemsets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5204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3749039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E1F"/>
                </a:solidFill>
                <a:latin typeface="Cambria"/>
              </a:rPr>
              <a:t>926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6177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rules (lift ≥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Co-purchase and lift show where bundles are natural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pic>
        <p:nvPicPr>
          <p:cNvPr id="4" name="Picture 3" descr="cell7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1691"/>
            <a:ext cx="4937760" cy="4106137"/>
          </a:xfrm>
          <a:prstGeom prst="rect">
            <a:avLst/>
          </a:prstGeom>
        </p:spPr>
      </p:pic>
      <p:pic>
        <p:nvPicPr>
          <p:cNvPr id="5" name="Picture 4" descr="cell8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97" y="1463040"/>
            <a:ext cx="4463604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5212080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Left: how often the top 15 products share a bill. Right: most rules have support of 1.5% to 3% and confidence of 0.2 to 0.7; higher lift tends to occur at lower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Ten biggest opportunities all lead to the cake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498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If basket has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Conf.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Potential*</a:t>
                      </a:r>
                    </a:p>
                  </a:txBody>
                  <a:tcPr>
                    <a:solidFill>
                      <a:srgbClr val="2B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Party Bunting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0.24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Cross-sell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15,989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Set of 3 Cake Tins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Cross-sell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13,273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72 Retrospot Cake Cases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0.27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Cross-sell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11,870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Jam Making Set Printed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Cross-sell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10,557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T-light Holder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0.16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Promotion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23,320</a:t>
                      </a:r>
                    </a:p>
                  </a:txBody>
                  <a:tcPr>
                    <a:solidFill>
                      <a:srgbClr val="F4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Jumbo Bag Red Retrospot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Promotion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22,504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Suggested item in every row: REGENCY CAKESTAND 3 TIER. *Upper bound at 100% uptake: about 7,200 at 5%, and rows overlap. Use for ranking, then A/B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5448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17830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E1F"/>
                </a:solidFill>
                <a:latin typeface="Cambria"/>
              </a:rPr>
              <a:t>143.8k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65176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modelled upper bound, top 10 rules (7.2k at 5% uptake)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66160"/>
            <a:ext cx="3200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Bundle if lift ≥ 3 and confidence ≥ 0.5; cross-sell if lift ≥ 2; otherwise promote.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B1B3D"/>
                </a:solidFill>
                <a:latin typeface="Cambria"/>
              </a:rPr>
              <a:t>Three plays for the 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59" y="178308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C8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Baking Essentials: cakestand + cake cases + cake tins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Multi-colour alarm-clock sets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Mixed cake-case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7720" y="178308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Cross-sell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Suggest the cakestand on bunting, tins, cases, jam and recipe-box pages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Add at checkout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78308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Time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Stock and campaign plan for Sep to Nov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Emails and on-site offers 11:00 to 15:00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Place related items together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Limits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B8A8"/>
                </a:solidFill>
                <a:latin typeface="Calibri"/>
              </a:rPr>
              <a:t>Keep in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Association is not causation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One year of data; no hold-out test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Variants inflate the highest lifts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Revenue figures are upper 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8FD6CC"/>
                </a:solidFill>
                <a:latin typeface="Calibr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51206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A/B test cakestand suggestions and one bundle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Group variants into families; re-run Apriori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Split by season and country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Publish rules in the Power BI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753</Words>
  <Application>Microsoft Office PowerPoint</Application>
  <PresentationFormat>Widescreen</PresentationFormat>
  <Paragraphs>137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shaloni .</cp:lastModifiedBy>
  <cp:revision>1</cp:revision>
  <dcterms:created xsi:type="dcterms:W3CDTF">2013-01-27T09:14:16Z</dcterms:created>
  <dcterms:modified xsi:type="dcterms:W3CDTF">2026-10-24T12:07:51Z</dcterms:modified>
  <cp:category/>
</cp:coreProperties>
</file>